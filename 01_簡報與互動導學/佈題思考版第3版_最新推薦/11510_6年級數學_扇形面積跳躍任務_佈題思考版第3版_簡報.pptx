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inking_k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201168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" y="804672"/>
            <a:ext cx="2048256" cy="2048256"/>
          </a:xfrm>
          <a:prstGeom prst="roundRect">
            <a:avLst/>
          </a:prstGeom>
          <a:noFill/>
          <a:ln w="2540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up_discu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931920"/>
            <a:ext cx="2468880" cy="184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42832" y="3913632"/>
            <a:ext cx="2505456" cy="1883664"/>
          </a:xfrm>
          <a:prstGeom prst="roundRect">
            <a:avLst/>
          </a:prstGeom>
          <a:noFill/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0972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F98DE"/>
                </a:solidFill>
                <a:latin typeface="微軟正黑體"/>
              </a:rPr>
              <a:t>【 南一版 115-1 六年級數學第六單元 】
</a:t>
            </a:r>
          </a:p>
          <a:p>
            <a:pPr algn="ctr"/>
            <a:r>
              <a:rPr sz="3200" b="1">
                <a:solidFill>
                  <a:srgbClr val="1A365D"/>
                </a:solidFill>
                <a:latin typeface="微軟正黑體"/>
              </a:rPr>
              <a:t>幾何魔法花窗：四葉草綠地的秘密
</a:t>
            </a:r>
          </a:p>
          <a:p>
            <a:pPr algn="ctr"/>
            <a:r>
              <a:rPr sz="2000">
                <a:solidFill>
                  <a:srgbClr val="3F98DE"/>
                </a:solidFill>
                <a:latin typeface="微軟正黑體"/>
              </a:rPr>
              <a:t>學習共同體 公開課 Jumping Task 伸展跳躍任務
（佈題思考版 第3版）
</a:t>
            </a:r>
          </a:p>
          <a:p>
            <a:pPr algn="ctr"/>
            <a:r>
              <a:rPr sz="1300" b="1">
                <a:solidFill>
                  <a:srgbClr val="2D3748"/>
                </a:solidFill>
                <a:latin typeface="微軟正黑體"/>
              </a:rPr>
              <a:t>📅 單元統整第 4/4 節   |   ⏱️ 課堂 40 分鐘   |   👥 4人異質協同共學   |   ✨ 佈題引導・自主探究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🤝 課堂約定：營造潤澤與安全的學習場域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[學習共同體常規]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stening_p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3312"/>
            <a:ext cx="2514600" cy="2176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1371600"/>
            <a:ext cx="25146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365D"/>
                </a:solidFill>
                <a:latin typeface="微軟正黑體"/>
              </a:rPr>
              <a:t>👂 專注傾聽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同伴發言時身體自然轉向他，用溫和眼神注視，聽清楚同伴的算式與幾何想法。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2514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2_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53312"/>
            <a:ext cx="2514600" cy="2176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0" y="1371600"/>
            <a:ext cx="25146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365D"/>
                </a:solidFill>
                <a:latin typeface="微軟正黑體"/>
              </a:rPr>
              <a:t>💬 耳語對話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組內討論請用小組聽得清楚、鄰組不受干擾的耳語音量，保持安心沉靜氛圍。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3_pres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96512"/>
            <a:ext cx="2514600" cy="2176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840" y="4114800"/>
            <a:ext cx="25146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76749"/>
                </a:solidFill>
                <a:latin typeface="微軟正黑體"/>
              </a:rPr>
              <a:t>🙋 勇於說「我不懂」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「我不懂」是課堂最珍貴禮物！勇敢說出困惑，邀請全組夥伴一起把幾何看明白。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394960" cy="251460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4_refl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96512"/>
            <a:ext cx="2514600" cy="2176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0" y="4114800"/>
            <a:ext cx="25146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76749"/>
                </a:solidFill>
                <a:latin typeface="微軟正黑體"/>
              </a:rPr>
              <a:t>🧩 互惠協同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每位同學都在學習單記錄想法，透過幾何圖形彼此鷹架、沉澱思考、共同頓悟！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🌱 第一關：暖身自學 —— 尋找神奇小鑰匙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[個人自學 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6692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【基礎任務：暖身探究】
</a:t>
            </a:r>
          </a:p>
          <a:p>
            <a:r>
              <a:rPr sz="1700">
                <a:solidFill>
                  <a:srgbClr val="2D3748"/>
                </a:solidFill>
                <a:latin typeface="微軟正黑體"/>
              </a:rPr>
              <a:t>在一個邊長 10 公分 的正方形中：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① 以頂點為圓心、半徑 10 公分 畫 1/4 圓扇形。
② 連接對角線形成等腰直角三角形。
</a:t>
            </a:r>
          </a:p>
          <a:p>
            <a:r>
              <a:rPr sz="1900" b="1">
                <a:solidFill>
                  <a:srgbClr val="C53030"/>
                </a:solidFill>
                <a:latin typeface="微軟正黑體"/>
              </a:rPr>
              <a:t>★ 請算出塗色「小葉片（弓形）」的面積是多少平方公分？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⏳ 請在學習單【暖身自學區】獨立動筆，記錄你的思考與算式。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5120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基礎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🚀 第二關：Jumping Task 伸展跳躍任務一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[小組共學 15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66928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🏫 智慧綠能校園景觀設計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學校要在中庭鋪設一塊邊長 20 公尺 的正方形草坪。設計師在草坪中央規劃了一座美麗的「四葉草花壇」（如右圖綠色區域）。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📐 幾何條件：
① 大正方形草坪邊長為 20 公尺。
② 四片花瓣由對稱等半徑圓弧圍成，對稱朝向四個角落。
</a:t>
            </a:r>
          </a:p>
          <a:p>
            <a:r>
              <a:rPr sz="1900" b="1">
                <a:solidFill>
                  <a:srgbClr val="C53030"/>
                </a:solidFill>
                <a:latin typeface="微軟正黑體"/>
              </a:rPr>
              <a:t>★ 伸展挑戰：這 4 片花瓣的總面積是多少平方公尺？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</a:t>
            </a:r>
          </a:p>
          <a:p>
            <a:r>
              <a:rPr sz="1400">
                <a:solidFill>
                  <a:srgbClr val="276749"/>
                </a:solidFill>
                <a:latin typeface="微軟正黑體"/>
              </a:rPr>
              <a:t>👥 4 人小組協同探究：彼此傾聽、嘗試畫出輔助線，尋找突破口！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5120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挑戰任務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🎯 第三關：Jumping Task 伸展跳躍任務二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[進階挑戰 10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66928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【幾何進階任務：雙半圓交疊花窗】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在一個邊長 16 公分 的正方形中：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📐 幾何條件：
① 以頂部邊長為直徑（半徑 8 cm）向內作一半圓。
② 以左側邊長為直徑（半徑 8 cm）向內作一半圓。
③ 兩半圓在左上方交疊出一片「透光葉片」，右下方為「未被兩半圓覆蓋之區域」。
</a:t>
            </a:r>
          </a:p>
          <a:p>
            <a:r>
              <a:rPr sz="1800" b="1">
                <a:solidFill>
                  <a:srgbClr val="C53030"/>
                </a:solidFill>
                <a:latin typeface="微軟正黑體"/>
              </a:rPr>
              <a:t>★ 請算出塗色區域（左上葉片 ＋ 右下區域）的總面積是多少平方公分？
</a:t>
            </a:r>
          </a:p>
          <a:p>
            <a:r>
              <a:rPr sz="1400">
                <a:solidFill>
                  <a:srgbClr val="2D3748"/>
                </a:solidFill>
                <a:latin typeface="微軟正黑體"/>
              </a:rPr>
              <a:t>（圓周率請以 3.14 計算）
</a:t>
            </a:r>
          </a:p>
          <a:p>
            <a:r>
              <a:rPr sz="1400">
                <a:solidFill>
                  <a:srgbClr val="276749"/>
                </a:solidFill>
                <a:latin typeface="微軟正黑體"/>
              </a:rPr>
              <a:t>💡 思考引導：塗色區域可否透過「容斥補償」或「全域扣減」巧妙轉化？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5120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幾何任務3_幾何題目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🗣️ 組間互學：策略一 —— 分割小正方形法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[化繁為簡・經驗遷移]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【幾何切割思維】
</a:t>
            </a:r>
          </a:p>
          <a:p>
            <a:r>
              <a:rPr sz="1600">
                <a:solidFill>
                  <a:srgbClr val="2D3748"/>
                </a:solidFill>
                <a:latin typeface="微軟正黑體"/>
              </a:rPr>
              <a:t>將 20m × 20m 的大正方形，沿著十字中線切成 4 個 10m × 10m 的小正方形！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🔍 觀察每一個 10×10 小正方形：
• 每個小正方形內部，獨立裝有一整片斜向對角線花瓣！
• 一整片花瓣剛好由 2 個 暖身題的單葉片組成！
</a:t>
            </a:r>
          </a:p>
          <a:p>
            <a:r>
              <a:rPr sz="1800" b="1">
                <a:solidFill>
                  <a:srgbClr val="3F98DE"/>
                </a:solidFill>
                <a:latin typeface="微軟正黑體"/>
              </a:rPr>
              <a:t>單片花瓣面積 ＝ 28.5 × 2 ＝ 57 (m²)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76749"/>
                </a:solidFill>
                <a:latin typeface="微軟正黑體"/>
              </a:rPr>
              <a:t>【全域算式推導】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1️⃣ 1 片暖身單葉片：
   10×10×3.14×(1/4) － 10×10÷2 ＝ 28.5 (m²)
2️⃣ 1 片完整花瓣（2片葉片）：
   28.5 × 2 ＝ 57 (m²)
3️⃣ 4 個小正方形共有 4 片花瓣：
   57 × 4 ＝ 228 (m²)
</a:t>
            </a:r>
          </a:p>
          <a:p>
            <a:r>
              <a:rPr sz="1400" b="1">
                <a:solidFill>
                  <a:srgbClr val="276749"/>
                </a:solidFill>
                <a:latin typeface="微軟正黑體"/>
              </a:rPr>
              <a:t>💡 策略點評：
將未知大任務轉化為 4 個已知的暖身小正方形，全班都能秒懂！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✨ 組間互學：策略二 —— 容斥神解法與第3題守恆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[大局觀・容斥原理]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【四葉草花壇容斥神解】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在 4 個 10×10 小正方形中，共有 8 個 1/4 圓扇形（即 2 個整圓）！
🌈 兩行算式秒解四葉草：
• 2 個整圓面積：2 × (10 × 10 × 3.14) ＝ 628 (m²)
• 大正方形面積：20 × 20 ＝ 400 (m²)
• 重疊花瓣面積：628 － 400 ＝ 228 (m²)！
</a:t>
            </a:r>
          </a:p>
          <a:p>
            <a:r>
              <a:rPr sz="1800" b="1">
                <a:solidFill>
                  <a:srgbClr val="C53030"/>
                </a:solidFill>
                <a:latin typeface="微軟正黑體"/>
              </a:rPr>
              <a:t>總和扣全域 ＝ 重疊花瓣面積！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76749"/>
                </a:solidFill>
                <a:latin typeface="微軟正黑體"/>
              </a:rPr>
              <a:t>【第3題雙半圓容斥守恆】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1️⃣ 左上葉片（兩半圓交疊）：
   2個半圓 - 聯集 ＝ 32π - 64 ＝ 36.48 (cm²)
2️⃣ 右下區域（未被覆蓋）：
   正方形 - 聯集 ＝ 192 - 32π ＝ 91.52 (cm²)
🌟 塗色總面積（完美守恆）：
   (32π - 64) ＋ (192 - 32π) ＝ 128 (cm²)
   剛好是 16×16 正方形的一半（256÷2＝128）！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微軟正黑體"/>
              </a:rPr>
              <a:t>🌟 第四關：導學統整與高光反思</a:t>
            </a:r>
            <a:r>
              <a:rPr sz="1600" b="1">
                <a:solidFill>
                  <a:srgbClr val="3F98DE"/>
                </a:solidFill>
                <a:latin typeface="微軟正黑體"/>
              </a:rPr>
              <a:t>   [反思沉澱 8 分鐘]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F9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365D"/>
                </a:solidFill>
                <a:latin typeface="微軟正黑體"/>
              </a:rPr>
              <a:t>🧠 幾何大師的思維躍遷
</a:t>
            </a:r>
          </a:p>
          <a:p>
            <a:r>
              <a:rPr sz="1500">
                <a:solidFill>
                  <a:srgbClr val="2D3748"/>
                </a:solidFill>
                <a:latin typeface="微軟正黑體"/>
              </a:rPr>
              <a:t>• 化繁為簡（分割法）：將 20×20 大正方形拆解成 4 個熟悉的 10×10 小正方形。
• 整體透視（容斥法）：8 個扇形面積之和扣除正方形全域，重疊即是花瓣。
• 容斥守恆（雙半圓）：交疊葉片與留白補償完美抵消，總和剛好是正方形的一半（128 cm²）！
</a:t>
            </a:r>
          </a:p>
          <a:p>
            <a:r>
              <a:rPr sz="1700" b="1">
                <a:solidFill>
                  <a:srgbClr val="3F98DE"/>
                </a:solidFill>
                <a:latin typeface="微軟正黑體"/>
              </a:rPr>
              <a:t>『分割小方現葉片，重疊扣全見真身！』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280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76749"/>
                </a:solidFill>
                <a:latin typeface="微軟正黑體"/>
              </a:rPr>
              <a:t>📝 學習單反思沉澱（請安靜書寫）
</a:t>
            </a:r>
          </a:p>
          <a:p>
            <a:r>
              <a:rPr sz="1300">
                <a:solidFill>
                  <a:srgbClr val="2D3748"/>
                </a:solidFill>
                <a:latin typeface="微軟正黑體"/>
              </a:rPr>
              <a:t>1. 我今天最棒的新發現：
（例如：切成 4 個小正方形每塊剛好有 1 朵花瓣...）
2. 我想感謝同組夥伴：
（例如：謝謝〇〇指出對角線，讓我看懂單葉片 28.5×2 就是花瓣...）</a:t>
            </a:r>
          </a:p>
        </p:txBody>
      </p:sp>
      <p:pic>
        <p:nvPicPr>
          <p:cNvPr id="7" name="Picture 6" descr="quiet_wri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31920"/>
            <a:ext cx="4846320" cy="2240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