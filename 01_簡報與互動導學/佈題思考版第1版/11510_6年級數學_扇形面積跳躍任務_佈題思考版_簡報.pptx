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4415" cy="5760720"/>
          </a:xfrm>
          <a:prstGeom prst="roundRect">
            <a:avLst/>
          </a:prstGeom>
          <a:solidFill>
            <a:srgbClr val="EBF8FF"/>
          </a:solidFill>
          <a:ln w="254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hinking_ki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822960"/>
            <a:ext cx="2011680" cy="20116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04672" y="804672"/>
            <a:ext cx="2048256" cy="2048256"/>
          </a:xfrm>
          <a:prstGeom prst="roundRect">
            <a:avLst/>
          </a:prstGeom>
          <a:noFill/>
          <a:ln w="254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roup_discus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3931920"/>
            <a:ext cx="2468880" cy="184708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942832" y="3913632"/>
            <a:ext cx="2505456" cy="1883664"/>
          </a:xfrm>
          <a:prstGeom prst="roundRect">
            <a:avLst/>
          </a:prstGeom>
          <a:noFill/>
          <a:ln w="25400">
            <a:solidFill>
              <a:srgbClr val="276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0" y="1097280"/>
            <a:ext cx="6309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B6CB0"/>
                </a:solidFill>
                <a:latin typeface="微軟正黑體"/>
              </a:rPr>
              <a:t>【 南一版 115-1 六年級數學第六單元 】
</a:t>
            </a:r>
          </a:p>
          <a:p>
            <a:pPr algn="ctr"/>
            <a:r>
              <a:rPr sz="3200" b="1">
                <a:solidFill>
                  <a:srgbClr val="1A365D"/>
                </a:solidFill>
                <a:latin typeface="微軟正黑體"/>
              </a:rPr>
              <a:t>幾何魔法花窗：四葉草綠地的秘密
</a:t>
            </a:r>
          </a:p>
          <a:p>
            <a:pPr algn="ctr"/>
            <a:r>
              <a:rPr sz="2000">
                <a:solidFill>
                  <a:srgbClr val="2B6CB0"/>
                </a:solidFill>
                <a:latin typeface="微軟正黑體"/>
              </a:rPr>
              <a:t>學習共同體 公開課 Jumping Task 伸展跳躍任務
（佈題思考版）
</a:t>
            </a:r>
          </a:p>
          <a:p>
            <a:pPr algn="ctr"/>
            <a:r>
              <a:rPr sz="1300" b="1">
                <a:solidFill>
                  <a:srgbClr val="2D3748"/>
                </a:solidFill>
                <a:latin typeface="微軟正黑體"/>
              </a:rPr>
              <a:t>📅 單元統整第 4/4 節   |   ⏱️ 課堂 40 分鐘   |   👥 4人異質協同共學   |   ✨ 佈題引導・自主探究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1A365D"/>
                </a:solidFill>
                <a:latin typeface="微軟正黑體"/>
              </a:rPr>
              <a:t>🤝 課堂約定：營造潤澤與安全的學習場域</a:t>
            </a:r>
            <a:r>
              <a:rPr sz="1600" b="1">
                <a:solidFill>
                  <a:srgbClr val="2B6CB0"/>
                </a:solidFill>
                <a:latin typeface="微軟正黑體"/>
              </a:rPr>
              <a:t>   [學習共同體常規]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5394960" cy="2514600"/>
          </a:xfrm>
          <a:prstGeom prst="roundRect">
            <a:avLst/>
          </a:prstGeom>
          <a:solidFill>
            <a:srgbClr val="EBF8FF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tep1_sol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17320"/>
            <a:ext cx="2057400" cy="2057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80360" y="1371600"/>
            <a:ext cx="2926080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2B6CB0"/>
                </a:solidFill>
                <a:latin typeface="微軟正黑體"/>
              </a:rPr>
              <a:t>👂 專注傾聽 (Listening)
</a:t>
            </a:r>
          </a:p>
          <a:p>
            <a:r>
              <a:rPr sz="1300">
                <a:solidFill>
                  <a:srgbClr val="2D3748"/>
                </a:solidFill>
                <a:latin typeface="微軟正黑體"/>
              </a:rPr>
              <a:t>同伴發言時身體自然轉向他，用溫和眼神注視，聽清楚同伴的算式與想法。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394960" cy="2514600"/>
          </a:xfrm>
          <a:prstGeom prst="roundRect">
            <a:avLst/>
          </a:prstGeom>
          <a:solidFill>
            <a:srgbClr val="EBF8FF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tep2_grou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417320"/>
            <a:ext cx="2057400" cy="2057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49640" y="1371600"/>
            <a:ext cx="2926080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2B6CB0"/>
                </a:solidFill>
                <a:latin typeface="微軟正黑體"/>
              </a:rPr>
              <a:t>💬 耳語對話 (Whispering)
</a:t>
            </a:r>
          </a:p>
          <a:p>
            <a:r>
              <a:rPr sz="1300">
                <a:solidFill>
                  <a:srgbClr val="2D3748"/>
                </a:solidFill>
                <a:latin typeface="微軟正黑體"/>
              </a:rPr>
              <a:t>組內討論請用小組聽得清楚、鄰組不受干擾的耳語音量，保持安心沉靜氛圍。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931920"/>
            <a:ext cx="5394960" cy="2514600"/>
          </a:xfrm>
          <a:prstGeom prst="roundRect">
            <a:avLst/>
          </a:prstGeom>
          <a:solidFill>
            <a:srgbClr val="F0FFF4"/>
          </a:solidFill>
          <a:ln w="19050">
            <a:solidFill>
              <a:srgbClr val="276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tep3_presen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4160520"/>
            <a:ext cx="2057400" cy="2057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880360" y="4114800"/>
            <a:ext cx="2926080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276749"/>
                </a:solidFill>
                <a:latin typeface="微軟正黑體"/>
              </a:rPr>
              <a:t>🙋 勇於說「我不懂」 (Inquiry)
</a:t>
            </a:r>
          </a:p>
          <a:p>
            <a:r>
              <a:rPr sz="1300">
                <a:solidFill>
                  <a:srgbClr val="2D3748"/>
                </a:solidFill>
                <a:latin typeface="微軟正黑體"/>
              </a:rPr>
              <a:t>「我不懂」是課堂上最珍貴的禮物！勇敢說出困惑，邀請全組夥伴一起把幾何看明白。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394960" cy="2514600"/>
          </a:xfrm>
          <a:prstGeom prst="roundRect">
            <a:avLst/>
          </a:prstGeom>
          <a:solidFill>
            <a:srgbClr val="F0FFF4"/>
          </a:solidFill>
          <a:ln w="19050">
            <a:solidFill>
              <a:srgbClr val="276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tep4_reflect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4160520"/>
            <a:ext cx="2057400" cy="2057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549640" y="4114800"/>
            <a:ext cx="2926080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276749"/>
                </a:solidFill>
                <a:latin typeface="微軟正黑體"/>
              </a:rPr>
              <a:t>🧩 互惠協同 (Reciprocal)
</a:t>
            </a:r>
          </a:p>
          <a:p>
            <a:r>
              <a:rPr sz="1300">
                <a:solidFill>
                  <a:srgbClr val="2D3748"/>
                </a:solidFill>
                <a:latin typeface="微軟正黑體"/>
              </a:rPr>
              <a:t>每位同學都在學習單記錄想法，透過幾何圖形彼此鷹架、沉澱思考、共同頓悟！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1A365D"/>
                </a:solidFill>
                <a:latin typeface="微軟正黑體"/>
              </a:rPr>
              <a:t>🌱 第一關：暖身自學 —— 尋找神奇小鑰匙</a:t>
            </a:r>
            <a:r>
              <a:rPr sz="1600" b="1">
                <a:solidFill>
                  <a:srgbClr val="2B6CB0"/>
                </a:solidFill>
                <a:latin typeface="微軟正黑體"/>
              </a:rPr>
              <a:t>   [個人自學 5 分鐘]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5852160" cy="521208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微軟正黑體"/>
              </a:rPr>
              <a:t>【基礎任務：暖身探究】
</a:t>
            </a:r>
          </a:p>
          <a:p>
            <a:r>
              <a:rPr sz="1700" b="1">
                <a:solidFill>
                  <a:srgbClr val="2D3748"/>
                </a:solidFill>
                <a:latin typeface="微軟正黑體"/>
              </a:rPr>
              <a:t>在一個邊長 10 公分 的正方形中：
</a:t>
            </a:r>
          </a:p>
          <a:p>
            <a:r>
              <a:rPr sz="1600">
                <a:solidFill>
                  <a:srgbClr val="2B6CB0"/>
                </a:solidFill>
                <a:latin typeface="微軟正黑體"/>
              </a:rPr>
              <a:t>① 以頂點為圓心、半徑 10 公分畫 1/4 圓扇形。
② 連接對角線形成等腰直角三角形。
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291840"/>
            <a:ext cx="5303520" cy="2011680"/>
          </a:xfrm>
          <a:prstGeom prst="roundRect">
            <a:avLst/>
          </a:prstGeom>
          <a:solidFill>
            <a:srgbClr val="FFF5F5"/>
          </a:solidFill>
          <a:ln w="22860">
            <a:solidFill>
              <a:srgbClr val="C5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47472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53030"/>
                </a:solidFill>
                <a:latin typeface="微軟正黑體"/>
              </a:rPr>
              <a:t>★ 請算出塗色「小葉片（弓形）」的面積是多少平方公分？
</a:t>
            </a:r>
          </a:p>
          <a:p>
            <a:r>
              <a:rPr sz="1400">
                <a:solidFill>
                  <a:srgbClr val="2D3748"/>
                </a:solidFill>
                <a:latin typeface="微軟正黑體"/>
              </a:rPr>
              <a:t>（圓周率請以 3.14 計算）
⏳ 請在學習單【暖身自學區】獨立動筆！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188720"/>
            <a:ext cx="4937760" cy="5212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基礎任務_幾何題目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463040"/>
            <a:ext cx="43891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1A365D"/>
                </a:solidFill>
                <a:latin typeface="微軟正黑體"/>
              </a:rPr>
              <a:t>🚀 第二關：Jumping Task 伸展跳躍挑戰</a:t>
            </a:r>
            <a:r>
              <a:rPr sz="1600" b="1">
                <a:solidFill>
                  <a:srgbClr val="2B6CB0"/>
                </a:solidFill>
                <a:latin typeface="微軟正黑體"/>
              </a:rPr>
              <a:t>   [小組共學 15 分鐘]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5852160" cy="5212080"/>
          </a:xfrm>
          <a:prstGeom prst="roundRect">
            <a:avLst/>
          </a:prstGeom>
          <a:solidFill>
            <a:srgbClr val="EBF8FF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微軟正黑體"/>
              </a:rPr>
              <a:t>🏫 智慧綠能校園景觀設計
</a:t>
            </a:r>
          </a:p>
          <a:p>
            <a:r>
              <a:rPr sz="1600">
                <a:solidFill>
                  <a:srgbClr val="2D3748"/>
                </a:solidFill>
                <a:latin typeface="微軟正黑體"/>
              </a:rPr>
              <a:t>學校要在中庭鋪設一塊邊長 20 公尺 的正方形草坪。設計師在草坪中央規劃了一座美麗的「四葉草花壇」（如右圖綠色區域）。
</a:t>
            </a:r>
          </a:p>
          <a:p>
            <a:r>
              <a:rPr sz="1500" b="1">
                <a:solidFill>
                  <a:srgbClr val="2B6CB0"/>
                </a:solidFill>
                <a:latin typeface="微軟正黑體"/>
              </a:rPr>
              <a:t>📐 幾何條件：
① 大正方形草坪邊長為 20 公尺。
② 四片花瓣由對稱等半徑圓弧圍成，對稱朝向四個角落。
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023360"/>
            <a:ext cx="5303520" cy="2011680"/>
          </a:xfrm>
          <a:prstGeom prst="roundRect">
            <a:avLst/>
          </a:prstGeom>
          <a:solidFill>
            <a:srgbClr val="FFF5F5"/>
          </a:solidFill>
          <a:ln w="22860">
            <a:solidFill>
              <a:srgbClr val="C5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16052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C53030"/>
                </a:solidFill>
                <a:latin typeface="微軟正黑體"/>
              </a:rPr>
              <a:t>★ 伸展挑戰：這 4 片花瓣的總面積是多少平方公尺？
</a:t>
            </a:r>
          </a:p>
          <a:p>
            <a:r>
              <a:rPr sz="1400">
                <a:solidFill>
                  <a:srgbClr val="2D3748"/>
                </a:solidFill>
                <a:latin typeface="微軟正黑體"/>
              </a:rPr>
              <a:t>（圓周率請以 3.14 計算）
👥 4 人小組協同探究：彼此傾聽、嘗試畫出輔助線！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188720"/>
            <a:ext cx="4937760" cy="5212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挑戰任務_幾何題目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463040"/>
            <a:ext cx="43891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1A365D"/>
                </a:solidFill>
                <a:latin typeface="微軟正黑體"/>
              </a:rPr>
              <a:t>🗣️ 組間互學：策略一 —— 分割小正方形法（最直觀正解）</a:t>
            </a:r>
            <a:r>
              <a:rPr sz="1600" b="1">
                <a:solidFill>
                  <a:srgbClr val="2B6CB0"/>
                </a:solidFill>
                <a:latin typeface="微軟正黑體"/>
              </a:rPr>
              <a:t>   [化繁為簡・經驗遷移]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5394960" cy="521208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4846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365D"/>
                </a:solidFill>
                <a:latin typeface="微軟正黑體"/>
              </a:rPr>
              <a:t>【幾何切割思維】
</a:t>
            </a:r>
          </a:p>
          <a:p>
            <a:r>
              <a:rPr sz="1500">
                <a:solidFill>
                  <a:srgbClr val="2D3748"/>
                </a:solidFill>
                <a:latin typeface="微軟正黑體"/>
              </a:rPr>
              <a:t>將 20m × 20m 大正方形，沿著十字中線切成 4 個 10m × 10m 的小正方形！
</a:t>
            </a:r>
          </a:p>
          <a:p>
            <a:r>
              <a:rPr sz="1500">
                <a:solidFill>
                  <a:srgbClr val="2B6CB0"/>
                </a:solidFill>
                <a:latin typeface="微軟正黑體"/>
              </a:rPr>
              <a:t>🔍 觀察每一個 10×10 小正方形：
• 內部獨立裝有一整片斜向對角線花瓣！
• 一整片花瓣剛好由 2 個 暖身題單葉片組成！
</a:t>
            </a:r>
          </a:p>
          <a:p>
            <a:r>
              <a:rPr sz="1700" b="1">
                <a:solidFill>
                  <a:srgbClr val="276749"/>
                </a:solidFill>
                <a:latin typeface="微軟正黑體"/>
              </a:rPr>
              <a:t>✨ 單片花瓣面積 ＝ 28.5 × 2 ＝ 57 (m²)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188720"/>
            <a:ext cx="5394960" cy="5212080"/>
          </a:xfrm>
          <a:prstGeom prst="roundRect">
            <a:avLst/>
          </a:prstGeom>
          <a:solidFill>
            <a:srgbClr val="F0FFF4"/>
          </a:solidFill>
          <a:ln w="19050">
            <a:solidFill>
              <a:srgbClr val="276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371600"/>
            <a:ext cx="4846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76749"/>
                </a:solidFill>
                <a:latin typeface="微軟正黑體"/>
              </a:rPr>
              <a:t>【全域算式推導】
</a:t>
            </a:r>
          </a:p>
          <a:p>
            <a:r>
              <a:rPr sz="1400">
                <a:solidFill>
                  <a:srgbClr val="2D3748"/>
                </a:solidFill>
                <a:latin typeface="微軟正黑體"/>
              </a:rPr>
              <a:t>1️⃣ 1 片暖身單葉片（弓形）：
    10 × 10 × 3.14 × (1/4) － 10 × 10 ÷ 2 ＝ 28.5 (m²)
</a:t>
            </a:r>
          </a:p>
          <a:p>
            <a:r>
              <a:rPr sz="1400" b="1">
                <a:solidFill>
                  <a:srgbClr val="2B6CB0"/>
                </a:solidFill>
                <a:latin typeface="微軟正黑體"/>
              </a:rPr>
              <a:t>2️⃣ 1 片完整花瓣（2片弓形）：
    28.5 × 2 ＝ 57 (m²)
</a:t>
            </a:r>
          </a:p>
          <a:p>
            <a:r>
              <a:rPr sz="1700" b="1">
                <a:solidFill>
                  <a:srgbClr val="C53030"/>
                </a:solidFill>
                <a:latin typeface="微軟正黑體"/>
              </a:rPr>
              <a:t>3️⃣ 4 個小正方形共有 4 片花瓣：
    57 × 4 ＝ 228 (m²)
</a:t>
            </a:r>
          </a:p>
          <a:p>
            <a:r>
              <a:rPr sz="1300">
                <a:solidFill>
                  <a:srgbClr val="276749"/>
                </a:solidFill>
                <a:latin typeface="微軟正黑體"/>
              </a:rPr>
              <a:t>💡 策略點評：將未知大任務轉化為 4 個已知的暖身小正方形，全班都能秒懂！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1A365D"/>
                </a:solidFill>
                <a:latin typeface="微軟正黑體"/>
              </a:rPr>
              <a:t>✨ 組間互學：策略二 —— 容斥神解法（總和扣全域）</a:t>
            </a:r>
            <a:r>
              <a:rPr sz="1600" b="1">
                <a:solidFill>
                  <a:srgbClr val="2B6CB0"/>
                </a:solidFill>
                <a:latin typeface="微軟正黑體"/>
              </a:rPr>
              <a:t>   [大局觀・容斥原理]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5394960" cy="5212080"/>
          </a:xfrm>
          <a:prstGeom prst="roundRect">
            <a:avLst/>
          </a:prstGeom>
          <a:solidFill>
            <a:srgbClr val="EBF8FF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4846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365D"/>
                </a:solidFill>
                <a:latin typeface="微軟正黑體"/>
              </a:rPr>
              <a:t>【容斥原理（幾何重疊透視）】
</a:t>
            </a:r>
          </a:p>
          <a:p>
            <a:r>
              <a:rPr sz="1500">
                <a:solidFill>
                  <a:srgbClr val="2D3748"/>
                </a:solidFill>
                <a:latin typeface="微軟正黑體"/>
              </a:rPr>
              <a:t>在 4 個 10×10 小正方形中，共有 8 個 1/4 圓扇形！
</a:t>
            </a:r>
          </a:p>
          <a:p>
            <a:r>
              <a:rPr sz="1400">
                <a:solidFill>
                  <a:srgbClr val="2B6CB0"/>
                </a:solidFill>
                <a:latin typeface="微軟正黑體"/>
              </a:rPr>
              <a:t>🌈 幾何重疊現象：
• 8 個 1/4 圓扇形鋪滿了整個 20×20 大正方形。
• 四個角落各花瓣區域被兩個扇形「重複覆蓋了兩次」！
</a:t>
            </a:r>
          </a:p>
          <a:p>
            <a:r>
              <a:rPr sz="1500" b="1">
                <a:solidFill>
                  <a:srgbClr val="C53030"/>
                </a:solidFill>
                <a:latin typeface="微軟正黑體"/>
              </a:rPr>
              <a:t>🌟 8 個 1/4 圓扇形總和（2個整圓）－ 正方形 ＝ 4 片花瓣！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188720"/>
            <a:ext cx="5394960" cy="5212080"/>
          </a:xfrm>
          <a:prstGeom prst="roundRect">
            <a:avLst/>
          </a:prstGeom>
          <a:solidFill>
            <a:srgbClr val="F0FFF4"/>
          </a:solidFill>
          <a:ln w="19050">
            <a:solidFill>
              <a:srgbClr val="276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371600"/>
            <a:ext cx="4846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76749"/>
                </a:solidFill>
                <a:latin typeface="微軟正黑體"/>
              </a:rPr>
              <a:t>【兩行算式快速解題】
</a:t>
            </a:r>
          </a:p>
          <a:p>
            <a:r>
              <a:rPr sz="1500" b="1">
                <a:solidFill>
                  <a:srgbClr val="2B6CB0"/>
                </a:solidFill>
                <a:latin typeface="微軟正黑體"/>
              </a:rPr>
              <a:t>1️⃣ 8 個 1/4 圓總面積（2個整圓）：
    2 × (10 × 10 × 3.14) ＝ 628 (m²)
</a:t>
            </a:r>
          </a:p>
          <a:p>
            <a:r>
              <a:rPr sz="1500" b="1">
                <a:solidFill>
                  <a:srgbClr val="2D3748"/>
                </a:solidFill>
                <a:latin typeface="微軟正黑體"/>
              </a:rPr>
              <a:t>2️⃣ 大正方形面積：
    20 × 20 ＝ 400 (m²)
</a:t>
            </a:r>
          </a:p>
          <a:p>
            <a:r>
              <a:rPr sz="1800" b="1">
                <a:solidFill>
                  <a:srgbClr val="C53030"/>
                </a:solidFill>
                <a:latin typeface="微軟正黑體"/>
              </a:rPr>
              <a:t>🌟 4 片花瓣總面積：
    628 － 400 ＝ 228 (m²)
</a:t>
            </a:r>
          </a:p>
          <a:p>
            <a:r>
              <a:rPr sz="1300">
                <a:solidFill>
                  <a:srgbClr val="276749"/>
                </a:solidFill>
                <a:latin typeface="微軟正黑體"/>
              </a:rPr>
              <a:t>💡 策略點評：由「分割法」與「容斥法」雙向印證，答案皆為 228 平方公尺，體現數學之美！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1A365D"/>
                </a:solidFill>
                <a:latin typeface="微軟正黑體"/>
              </a:rPr>
              <a:t>🌟 第三關：導學統整與高光反思</a:t>
            </a:r>
            <a:r>
              <a:rPr sz="1600" b="1">
                <a:solidFill>
                  <a:srgbClr val="2B6CB0"/>
                </a:solidFill>
                <a:latin typeface="微軟正黑體"/>
              </a:rPr>
              <a:t>   [反思沉澱 8 分鐘]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5394960" cy="5212080"/>
          </a:xfrm>
          <a:prstGeom prst="roundRect">
            <a:avLst/>
          </a:prstGeom>
          <a:solidFill>
            <a:srgbClr val="EBF8FF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4846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365D"/>
                </a:solidFill>
                <a:latin typeface="微軟正黑體"/>
              </a:rPr>
              <a:t>🧠 幾何大師的思維躍遷
</a:t>
            </a:r>
          </a:p>
          <a:p>
            <a:r>
              <a:rPr sz="1400">
                <a:solidFill>
                  <a:srgbClr val="2D3748"/>
                </a:solidFill>
                <a:latin typeface="微軟正黑體"/>
              </a:rPr>
              <a:t>• 化繁為簡（分割法）：將 20×20 大正方形拆解成 4 個熟悉的 10×10 小正方形。
• 整體透視（容斥法）：8 個扇形面積之和扣除正方形全域，重疊即是花瓣。
• 殊途同歸：兩種方法皆算出 228 m²，展現數學對稱與嚴謹！
</a:t>
            </a:r>
          </a:p>
          <a:p>
            <a:r>
              <a:rPr sz="1600" b="1">
                <a:solidFill>
                  <a:srgbClr val="2B6CB0"/>
                </a:solidFill>
                <a:latin typeface="微軟正黑體"/>
              </a:rPr>
              <a:t>『分割小方現葉片，重疊扣全見真身！』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188720"/>
            <a:ext cx="5394960" cy="521208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371600"/>
            <a:ext cx="4846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76749"/>
                </a:solidFill>
                <a:latin typeface="微軟正黑體"/>
              </a:rPr>
              <a:t>📝 學習單反思沉澱（請安靜書寫）
</a:t>
            </a:r>
          </a:p>
          <a:p>
            <a:r>
              <a:rPr sz="1350">
                <a:solidFill>
                  <a:srgbClr val="2D3748"/>
                </a:solidFill>
                <a:latin typeface="微軟正黑體"/>
              </a:rPr>
              <a:t>1. 我今天最棒的新發現：
   （例如：我原本以為要算碎塊，後來發現切成 4 個小正方形每塊剛好有 1 朵花瓣...）
</a:t>
            </a:r>
          </a:p>
          <a:p>
            <a:r>
              <a:rPr sz="1350">
                <a:solidFill>
                  <a:srgbClr val="2D3748"/>
                </a:solidFill>
                <a:latin typeface="微軟正黑體"/>
              </a:rPr>
              <a:t>2. 我想感謝同組夥伴：
   （例如：謝謝〇〇指出對角線，讓我看懂單葉片 28.5×2 就是花瓣...）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